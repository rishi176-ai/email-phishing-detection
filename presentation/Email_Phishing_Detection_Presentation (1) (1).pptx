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954" y="2477690"/>
            <a:ext cx="200024" cy="2000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26623" y="214738"/>
            <a:ext cx="7190740" cy="793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19697" y="1286275"/>
            <a:ext cx="190500" cy="190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55416" y="919340"/>
            <a:ext cx="7581265" cy="793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12703" y="2161152"/>
            <a:ext cx="12517755" cy="337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2700" y="1547952"/>
            <a:ext cx="16428085" cy="3063875"/>
          </a:xfrm>
          <a:prstGeom prst="rect"/>
        </p:spPr>
        <p:txBody>
          <a:bodyPr wrap="square" lIns="0" tIns="45085" rIns="0" bIns="0" rtlCol="0" vert="horz">
            <a:spAutoFit/>
          </a:bodyPr>
          <a:lstStyle/>
          <a:p>
            <a:pPr marL="3541395" marR="5080" indent="-3529329">
              <a:lnSpc>
                <a:spcPts val="11930"/>
              </a:lnSpc>
              <a:spcBef>
                <a:spcPts val="355"/>
              </a:spcBef>
              <a:tabLst>
                <a:tab pos="3362960" algn="l"/>
                <a:tab pos="8126095" algn="l"/>
                <a:tab pos="8301990" algn="l"/>
                <a:tab pos="13380085" algn="l"/>
              </a:tabLst>
            </a:pPr>
            <a:r>
              <a:rPr dirty="0" sz="10000" spc="-10"/>
              <a:t>Email</a:t>
            </a:r>
            <a:r>
              <a:rPr dirty="0" sz="10000"/>
              <a:t>	</a:t>
            </a:r>
            <a:r>
              <a:rPr dirty="0" sz="10000" spc="-10"/>
              <a:t>Phishing</a:t>
            </a:r>
            <a:r>
              <a:rPr dirty="0" sz="10000"/>
              <a:t>	</a:t>
            </a:r>
            <a:r>
              <a:rPr dirty="0" sz="10000" spc="-10"/>
              <a:t>Detection</a:t>
            </a:r>
            <a:r>
              <a:rPr dirty="0" sz="10000"/>
              <a:t>	</a:t>
            </a:r>
            <a:r>
              <a:rPr dirty="0" sz="10000" spc="-20"/>
              <a:t>Using </a:t>
            </a:r>
            <a:r>
              <a:rPr dirty="0" sz="10000" spc="-10"/>
              <a:t>Machine</a:t>
            </a:r>
            <a:r>
              <a:rPr dirty="0" sz="10000"/>
              <a:t>		</a:t>
            </a:r>
            <a:r>
              <a:rPr dirty="0" sz="10000" spc="-10"/>
              <a:t>Learning</a:t>
            </a:r>
            <a:endParaRPr sz="10000"/>
          </a:p>
        </p:txBody>
      </p:sp>
      <p:sp>
        <p:nvSpPr>
          <p:cNvPr id="3" name="object 3"/>
          <p:cNvSpPr txBox="1"/>
          <p:nvPr/>
        </p:nvSpPr>
        <p:spPr>
          <a:xfrm>
            <a:off x="1535837" y="5834963"/>
            <a:ext cx="10413365" cy="37966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5960"/>
              </a:lnSpc>
              <a:spcBef>
                <a:spcPts val="90"/>
              </a:spcBef>
            </a:pPr>
            <a:r>
              <a:rPr dirty="0" sz="5000">
                <a:solidFill>
                  <a:srgbClr val="585858"/>
                </a:solidFill>
                <a:latin typeface="Times New Roman"/>
                <a:cs typeface="Times New Roman"/>
              </a:rPr>
              <a:t>Presented</a:t>
            </a:r>
            <a:r>
              <a:rPr dirty="0" sz="5000" spc="-1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000">
                <a:solidFill>
                  <a:srgbClr val="585858"/>
                </a:solidFill>
                <a:latin typeface="Times New Roman"/>
                <a:cs typeface="Times New Roman"/>
              </a:rPr>
              <a:t>by:-</a:t>
            </a:r>
            <a:r>
              <a:rPr dirty="0" sz="5000" spc="-1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000">
                <a:solidFill>
                  <a:srgbClr val="585858"/>
                </a:solidFill>
                <a:latin typeface="Times New Roman"/>
                <a:cs typeface="Times New Roman"/>
              </a:rPr>
              <a:t>Abhijit</a:t>
            </a:r>
            <a:r>
              <a:rPr dirty="0" sz="5000" spc="-1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000">
                <a:solidFill>
                  <a:srgbClr val="585858"/>
                </a:solidFill>
                <a:latin typeface="Times New Roman"/>
                <a:cs typeface="Times New Roman"/>
              </a:rPr>
              <a:t>Bhekare</a:t>
            </a:r>
            <a:r>
              <a:rPr dirty="0" sz="5000" spc="-1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000" spc="-10">
                <a:solidFill>
                  <a:srgbClr val="585858"/>
                </a:solidFill>
                <a:latin typeface="Times New Roman"/>
                <a:cs typeface="Times New Roman"/>
              </a:rPr>
              <a:t>(155)</a:t>
            </a:r>
            <a:endParaRPr sz="5000">
              <a:latin typeface="Times New Roman"/>
              <a:cs typeface="Times New Roman"/>
            </a:endParaRPr>
          </a:p>
          <a:p>
            <a:pPr marL="3815715">
              <a:lnSpc>
                <a:spcPts val="5925"/>
              </a:lnSpc>
            </a:pPr>
            <a:r>
              <a:rPr dirty="0" sz="5000">
                <a:solidFill>
                  <a:srgbClr val="585858"/>
                </a:solidFill>
                <a:latin typeface="Times New Roman"/>
                <a:cs typeface="Times New Roman"/>
              </a:rPr>
              <a:t>Yash</a:t>
            </a:r>
            <a:r>
              <a:rPr dirty="0" sz="5000" spc="-1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000">
                <a:solidFill>
                  <a:srgbClr val="585858"/>
                </a:solidFill>
                <a:latin typeface="Times New Roman"/>
                <a:cs typeface="Times New Roman"/>
              </a:rPr>
              <a:t>Jangali</a:t>
            </a:r>
            <a:r>
              <a:rPr dirty="0" sz="5000" spc="-1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000" spc="-10">
                <a:solidFill>
                  <a:srgbClr val="585858"/>
                </a:solidFill>
                <a:latin typeface="Times New Roman"/>
                <a:cs typeface="Times New Roman"/>
              </a:rPr>
              <a:t>(172)</a:t>
            </a:r>
            <a:endParaRPr sz="5000">
              <a:latin typeface="Times New Roman"/>
              <a:cs typeface="Times New Roman"/>
            </a:endParaRPr>
          </a:p>
          <a:p>
            <a:pPr marL="804545" marR="5080" indent="3010535">
              <a:lnSpc>
                <a:spcPts val="5930"/>
              </a:lnSpc>
              <a:spcBef>
                <a:spcPts val="220"/>
              </a:spcBef>
            </a:pPr>
            <a:r>
              <a:rPr dirty="0" sz="5000">
                <a:solidFill>
                  <a:srgbClr val="585858"/>
                </a:solidFill>
                <a:latin typeface="Times New Roman"/>
                <a:cs typeface="Times New Roman"/>
              </a:rPr>
              <a:t>Rushikesh</a:t>
            </a:r>
            <a:r>
              <a:rPr dirty="0" sz="5000" spc="-2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000">
                <a:solidFill>
                  <a:srgbClr val="585858"/>
                </a:solidFill>
                <a:latin typeface="Times New Roman"/>
                <a:cs typeface="Times New Roman"/>
              </a:rPr>
              <a:t>Mahadik</a:t>
            </a:r>
            <a:r>
              <a:rPr dirty="0" sz="5000" spc="-2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000" spc="-10">
                <a:solidFill>
                  <a:srgbClr val="585858"/>
                </a:solidFill>
                <a:latin typeface="Times New Roman"/>
                <a:cs typeface="Times New Roman"/>
              </a:rPr>
              <a:t>(179) </a:t>
            </a:r>
            <a:r>
              <a:rPr dirty="0" sz="5000">
                <a:solidFill>
                  <a:srgbClr val="585858"/>
                </a:solidFill>
                <a:latin typeface="Times New Roman"/>
                <a:cs typeface="Times New Roman"/>
              </a:rPr>
              <a:t>Course:BSc</a:t>
            </a:r>
            <a:r>
              <a:rPr dirty="0" sz="5000" spc="-2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000" spc="-25">
                <a:solidFill>
                  <a:srgbClr val="585858"/>
                </a:solidFill>
                <a:latin typeface="Times New Roman"/>
                <a:cs typeface="Times New Roman"/>
              </a:rPr>
              <a:t>IT</a:t>
            </a:r>
            <a:endParaRPr sz="5000">
              <a:latin typeface="Times New Roman"/>
              <a:cs typeface="Times New Roman"/>
            </a:endParaRPr>
          </a:p>
          <a:p>
            <a:pPr marL="804545">
              <a:lnSpc>
                <a:spcPts val="5735"/>
              </a:lnSpc>
            </a:pPr>
            <a:r>
              <a:rPr dirty="0" sz="5000">
                <a:solidFill>
                  <a:srgbClr val="585858"/>
                </a:solidFill>
                <a:latin typeface="Times New Roman"/>
                <a:cs typeface="Times New Roman"/>
              </a:rPr>
              <a:t>Academic</a:t>
            </a:r>
            <a:r>
              <a:rPr dirty="0" sz="5000" spc="-1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000" spc="-35">
                <a:solidFill>
                  <a:srgbClr val="585858"/>
                </a:solidFill>
                <a:latin typeface="Times New Roman"/>
                <a:cs typeface="Times New Roman"/>
              </a:rPr>
              <a:t>Year:2025-</a:t>
            </a:r>
            <a:r>
              <a:rPr dirty="0" sz="5000" spc="-25">
                <a:solidFill>
                  <a:srgbClr val="585858"/>
                </a:solidFill>
                <a:latin typeface="Times New Roman"/>
                <a:cs typeface="Times New Roman"/>
              </a:rPr>
              <a:t>26</a:t>
            </a:r>
            <a:endParaRPr sz="5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372" y="2017328"/>
            <a:ext cx="209549" cy="2095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54982" y="1607816"/>
            <a:ext cx="5398135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00" spc="-10"/>
              <a:t>INTRODUCTION</a:t>
            </a:r>
            <a:endParaRPr sz="56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9926" y="3328149"/>
            <a:ext cx="200025" cy="2000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02017" y="2804908"/>
            <a:ext cx="14766290" cy="4740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928495">
              <a:lnSpc>
                <a:spcPct val="114599"/>
              </a:lnSpc>
              <a:spcBef>
                <a:spcPts val="95"/>
              </a:spcBef>
              <a:tabLst>
                <a:tab pos="1821814" algn="l"/>
                <a:tab pos="2811145" algn="l"/>
                <a:tab pos="4239895" algn="l"/>
                <a:tab pos="4355465" algn="l"/>
                <a:tab pos="4984115" algn="l"/>
                <a:tab pos="5460365" algn="l"/>
                <a:tab pos="5820410" algn="l"/>
                <a:tab pos="7058659" algn="l"/>
                <a:tab pos="7231380" algn="l"/>
                <a:tab pos="9781540" algn="l"/>
                <a:tab pos="11096625" algn="l"/>
              </a:tabLst>
            </a:pP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Email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phishing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	</a:t>
            </a:r>
            <a:r>
              <a:rPr dirty="0" sz="5400" spc="-25">
                <a:solidFill>
                  <a:srgbClr val="585858"/>
                </a:solidFill>
                <a:latin typeface="Times New Roman"/>
                <a:cs typeface="Times New Roman"/>
              </a:rPr>
              <a:t>is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5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major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cybersecurity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threat. Attackers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trick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users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20">
                <a:solidFill>
                  <a:srgbClr val="585858"/>
                </a:solidFill>
                <a:latin typeface="Times New Roman"/>
                <a:cs typeface="Times New Roman"/>
              </a:rPr>
              <a:t>into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revealing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sensitive information.</a:t>
            </a:r>
            <a:endParaRPr sz="5400">
              <a:latin typeface="Times New Roman"/>
              <a:cs typeface="Times New Roman"/>
            </a:endParaRPr>
          </a:p>
          <a:p>
            <a:pPr marL="12700" marR="5080">
              <a:lnSpc>
                <a:spcPts val="7420"/>
              </a:lnSpc>
              <a:spcBef>
                <a:spcPts val="210"/>
              </a:spcBef>
              <a:tabLst>
                <a:tab pos="2278380" algn="l"/>
                <a:tab pos="2583180" algn="l"/>
                <a:tab pos="4963795" algn="l"/>
                <a:tab pos="5229860" algn="l"/>
                <a:tab pos="5592445" algn="l"/>
                <a:tab pos="6849109" algn="l"/>
                <a:tab pos="7973059" algn="l"/>
                <a:tab pos="9134475" algn="l"/>
                <a:tab pos="9533890" algn="l"/>
                <a:tab pos="12067540" algn="l"/>
              </a:tabLst>
            </a:pP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Manual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detection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25">
                <a:solidFill>
                  <a:srgbClr val="585858"/>
                </a:solidFill>
                <a:latin typeface="Times New Roman"/>
                <a:cs typeface="Times New Roman"/>
              </a:rPr>
              <a:t>is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difficult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2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30">
                <a:solidFill>
                  <a:srgbClr val="585858"/>
                </a:solidFill>
                <a:latin typeface="Times New Roman"/>
                <a:cs typeface="Times New Roman"/>
              </a:rPr>
              <a:t>time-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consuming. Machine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Learning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helps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automate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phishing</a:t>
            </a:r>
            <a:r>
              <a:rPr dirty="0" sz="54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5400" spc="-10">
                <a:solidFill>
                  <a:srgbClr val="585858"/>
                </a:solidFill>
                <a:latin typeface="Times New Roman"/>
                <a:cs typeface="Times New Roman"/>
              </a:rPr>
              <a:t>detection.</a:t>
            </a:r>
            <a:endParaRPr sz="5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9926" y="4271124"/>
            <a:ext cx="200025" cy="2000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9926" y="6157073"/>
            <a:ext cx="200025" cy="2000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9926" y="7100048"/>
            <a:ext cx="200025" cy="200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97" y="2155278"/>
            <a:ext cx="190500" cy="190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55416" y="1788343"/>
            <a:ext cx="7012305" cy="79375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PROBLEM</a:t>
            </a:r>
            <a:r>
              <a:rPr dirty="0" spc="-25"/>
              <a:t> </a:t>
            </a:r>
            <a:r>
              <a:rPr dirty="0" spc="-10"/>
              <a:t>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6372" y="3499589"/>
            <a:ext cx="209549" cy="2095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54982" y="2962366"/>
            <a:ext cx="15328265" cy="394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616960">
              <a:lnSpc>
                <a:spcPct val="114999"/>
              </a:lnSpc>
              <a:spcBef>
                <a:spcPts val="95"/>
              </a:spcBef>
            </a:pP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Increase</a:t>
            </a:r>
            <a:r>
              <a:rPr dirty="0" sz="5600" spc="-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in</a:t>
            </a:r>
            <a:r>
              <a:rPr dirty="0" sz="5600" spc="-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phishing</a:t>
            </a:r>
            <a:r>
              <a:rPr dirty="0" sz="5600" spc="-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attacks</a:t>
            </a:r>
            <a:r>
              <a:rPr dirty="0" sz="5600" spc="-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via</a:t>
            </a:r>
            <a:r>
              <a:rPr dirty="0" sz="5600" spc="-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 spc="-10">
                <a:solidFill>
                  <a:srgbClr val="585858"/>
                </a:solidFill>
                <a:latin typeface="Times New Roman"/>
                <a:cs typeface="Times New Roman"/>
              </a:rPr>
              <a:t>emails.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Users</a:t>
            </a:r>
            <a:r>
              <a:rPr dirty="0" sz="5600" spc="-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find</a:t>
            </a:r>
            <a:r>
              <a:rPr dirty="0" sz="5600" spc="-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it</a:t>
            </a:r>
            <a:r>
              <a:rPr dirty="0" sz="5600" spc="-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hard</a:t>
            </a:r>
            <a:r>
              <a:rPr dirty="0" sz="5600" spc="-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to</a:t>
            </a:r>
            <a:r>
              <a:rPr dirty="0" sz="5600" spc="-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identify</a:t>
            </a:r>
            <a:r>
              <a:rPr dirty="0" sz="5600" spc="-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fake</a:t>
            </a:r>
            <a:r>
              <a:rPr dirty="0" sz="5600" spc="-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 spc="-10">
                <a:solidFill>
                  <a:srgbClr val="585858"/>
                </a:solidFill>
                <a:latin typeface="Times New Roman"/>
                <a:cs typeface="Times New Roman"/>
              </a:rPr>
              <a:t>emails.</a:t>
            </a:r>
            <a:endParaRPr sz="5600">
              <a:latin typeface="Times New Roman"/>
              <a:cs typeface="Times New Roman"/>
            </a:endParaRPr>
          </a:p>
          <a:p>
            <a:pPr marL="12700" marR="5080">
              <a:lnSpc>
                <a:spcPts val="7720"/>
              </a:lnSpc>
              <a:spcBef>
                <a:spcPts val="229"/>
              </a:spcBef>
            </a:pP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Traditional</a:t>
            </a:r>
            <a:r>
              <a:rPr dirty="0" sz="5600" spc="-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security</a:t>
            </a:r>
            <a:r>
              <a:rPr dirty="0" sz="5600" spc="-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methods</a:t>
            </a:r>
            <a:r>
              <a:rPr dirty="0" sz="5600" spc="-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are</a:t>
            </a:r>
            <a:r>
              <a:rPr dirty="0" sz="5600" spc="-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not</a:t>
            </a:r>
            <a:r>
              <a:rPr dirty="0" sz="5600" spc="-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always</a:t>
            </a:r>
            <a:r>
              <a:rPr dirty="0" sz="5600" spc="-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 spc="-10">
                <a:solidFill>
                  <a:srgbClr val="585858"/>
                </a:solidFill>
                <a:latin typeface="Times New Roman"/>
                <a:cs typeface="Times New Roman"/>
              </a:rPr>
              <a:t>effective.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Need</a:t>
            </a:r>
            <a:r>
              <a:rPr dirty="0" sz="5600" spc="-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5600" spc="-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an</a:t>
            </a:r>
            <a:r>
              <a:rPr dirty="0" sz="5600" spc="-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automated</a:t>
            </a:r>
            <a:r>
              <a:rPr dirty="0" sz="5600" spc="-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phishing</a:t>
            </a:r>
            <a:r>
              <a:rPr dirty="0" sz="5600" spc="-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>
                <a:solidFill>
                  <a:srgbClr val="585858"/>
                </a:solidFill>
                <a:latin typeface="Times New Roman"/>
                <a:cs typeface="Times New Roman"/>
              </a:rPr>
              <a:t>detection</a:t>
            </a:r>
            <a:r>
              <a:rPr dirty="0" sz="5600" spc="-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600" spc="-10">
                <a:solidFill>
                  <a:srgbClr val="585858"/>
                </a:solidFill>
                <a:latin typeface="Times New Roman"/>
                <a:cs typeface="Times New Roman"/>
              </a:rPr>
              <a:t>system.</a:t>
            </a:r>
            <a:endParaRPr sz="5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6372" y="4480664"/>
            <a:ext cx="209549" cy="2095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6372" y="5461739"/>
            <a:ext cx="209549" cy="2095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6372" y="6442814"/>
            <a:ext cx="209549" cy="2095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97" y="2701175"/>
            <a:ext cx="190500" cy="1904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48273" y="2224912"/>
            <a:ext cx="13613130" cy="349250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To</a:t>
            </a:r>
            <a:r>
              <a:rPr dirty="0" sz="5000" spc="-4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detect</a:t>
            </a:r>
            <a:r>
              <a:rPr dirty="0" sz="5000" spc="-4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phishing</a:t>
            </a:r>
            <a:r>
              <a:rPr dirty="0" sz="5000" spc="-4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emails</a:t>
            </a:r>
            <a:r>
              <a:rPr dirty="0" sz="5000" spc="-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 spc="-10">
                <a:solidFill>
                  <a:srgbClr val="585858"/>
                </a:solidFill>
                <a:latin typeface="Arial"/>
                <a:cs typeface="Arial"/>
              </a:rPr>
              <a:t>automatically.</a:t>
            </a:r>
            <a:endParaRPr sz="5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To</a:t>
            </a:r>
            <a:r>
              <a:rPr dirty="0" sz="5000" spc="-4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classify</a:t>
            </a:r>
            <a:r>
              <a:rPr dirty="0" sz="5000" spc="-4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emails</a:t>
            </a:r>
            <a:r>
              <a:rPr dirty="0" sz="5000" spc="-4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as</a:t>
            </a:r>
            <a:r>
              <a:rPr dirty="0" sz="5000" spc="-4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Phishing</a:t>
            </a:r>
            <a:r>
              <a:rPr dirty="0" sz="5000" spc="-4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or</a:t>
            </a:r>
            <a:r>
              <a:rPr dirty="0" sz="5000" spc="-4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 spc="-10">
                <a:solidFill>
                  <a:srgbClr val="585858"/>
                </a:solidFill>
                <a:latin typeface="Arial"/>
                <a:cs typeface="Arial"/>
              </a:rPr>
              <a:t>Legitimate.</a:t>
            </a:r>
            <a:endParaRPr sz="5000">
              <a:latin typeface="Arial"/>
              <a:cs typeface="Arial"/>
            </a:endParaRPr>
          </a:p>
          <a:p>
            <a:pPr marL="12700" marR="5080">
              <a:lnSpc>
                <a:spcPts val="6830"/>
              </a:lnSpc>
              <a:spcBef>
                <a:spcPts val="160"/>
              </a:spcBef>
            </a:pP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To</a:t>
            </a:r>
            <a:r>
              <a:rPr dirty="0" sz="5000" spc="-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use</a:t>
            </a:r>
            <a:r>
              <a:rPr dirty="0" sz="5000" spc="-3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machine</a:t>
            </a:r>
            <a:r>
              <a:rPr dirty="0" sz="5000" spc="-3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learning</a:t>
            </a:r>
            <a:r>
              <a:rPr dirty="0" sz="5000" spc="-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for</a:t>
            </a:r>
            <a:r>
              <a:rPr dirty="0" sz="5000" spc="-3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accurate</a:t>
            </a:r>
            <a:r>
              <a:rPr dirty="0" sz="5000" spc="-3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 spc="-10">
                <a:solidFill>
                  <a:srgbClr val="585858"/>
                </a:solidFill>
                <a:latin typeface="Arial"/>
                <a:cs typeface="Arial"/>
              </a:rPr>
              <a:t>prediction.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To</a:t>
            </a:r>
            <a:r>
              <a:rPr dirty="0" sz="5000" spc="-2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provide</a:t>
            </a:r>
            <a:r>
              <a:rPr dirty="0" sz="5000" spc="-2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a</a:t>
            </a:r>
            <a:r>
              <a:rPr dirty="0" sz="5000" spc="-2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simple</a:t>
            </a:r>
            <a:r>
              <a:rPr dirty="0" sz="5000" spc="-2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 spc="-10">
                <a:solidFill>
                  <a:srgbClr val="585858"/>
                </a:solidFill>
                <a:latin typeface="Arial"/>
                <a:cs typeface="Arial"/>
              </a:rPr>
              <a:t>command-</a:t>
            </a:r>
            <a:r>
              <a:rPr dirty="0" sz="5000">
                <a:solidFill>
                  <a:srgbClr val="585858"/>
                </a:solidFill>
                <a:latin typeface="Arial"/>
                <a:cs typeface="Arial"/>
              </a:rPr>
              <a:t>line</a:t>
            </a:r>
            <a:r>
              <a:rPr dirty="0" sz="5000" spc="-2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5000" spc="-10">
                <a:solidFill>
                  <a:srgbClr val="585858"/>
                </a:solidFill>
                <a:latin typeface="Arial"/>
                <a:cs typeface="Arial"/>
              </a:rPr>
              <a:t>interface</a:t>
            </a:r>
            <a:endParaRPr sz="5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97" y="3567950"/>
            <a:ext cx="190500" cy="190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97" y="4434725"/>
            <a:ext cx="190500" cy="190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97" y="5301500"/>
            <a:ext cx="190500" cy="1904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DATASET</a:t>
            </a:r>
            <a:r>
              <a:rPr dirty="0" spc="-35"/>
              <a:t> </a:t>
            </a:r>
            <a:r>
              <a:rPr dirty="0" spc="-10"/>
              <a:t>DESCRIPTION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747" y="2717939"/>
            <a:ext cx="200024" cy="2000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83842" y="2227713"/>
            <a:ext cx="10791825" cy="364490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Dataset</a:t>
            </a:r>
            <a:r>
              <a:rPr dirty="0" sz="5200" spc="-1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name:</a:t>
            </a:r>
            <a:r>
              <a:rPr dirty="0" sz="5200" spc="-1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 spc="-10">
                <a:solidFill>
                  <a:srgbClr val="585858"/>
                </a:solidFill>
                <a:latin typeface="Times New Roman"/>
                <a:cs typeface="Times New Roman"/>
              </a:rPr>
              <a:t>emails.csv</a:t>
            </a:r>
            <a:endParaRPr sz="5200">
              <a:latin typeface="Times New Roman"/>
              <a:cs typeface="Times New Roman"/>
            </a:endParaRPr>
          </a:p>
          <a:p>
            <a:pPr marL="12700" marR="5080">
              <a:lnSpc>
                <a:spcPts val="7130"/>
              </a:lnSpc>
              <a:spcBef>
                <a:spcPts val="380"/>
              </a:spcBef>
            </a:pP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Contains</a:t>
            </a:r>
            <a:r>
              <a:rPr dirty="0" sz="5200" spc="-11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phishing</a:t>
            </a:r>
            <a:r>
              <a:rPr dirty="0" sz="5200" spc="-10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5200" spc="-11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legitimate</a:t>
            </a:r>
            <a:r>
              <a:rPr dirty="0" sz="5200" spc="-10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 spc="-10">
                <a:solidFill>
                  <a:srgbClr val="585858"/>
                </a:solidFill>
                <a:latin typeface="Times New Roman"/>
                <a:cs typeface="Times New Roman"/>
              </a:rPr>
              <a:t>emails.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Stored</a:t>
            </a:r>
            <a:r>
              <a:rPr dirty="0" sz="5200" spc="-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in</a:t>
            </a:r>
            <a:r>
              <a:rPr dirty="0" sz="5200" spc="-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5200" spc="-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dataset</a:t>
            </a:r>
            <a:r>
              <a:rPr dirty="0" sz="5200" spc="-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 spc="-10">
                <a:solidFill>
                  <a:srgbClr val="585858"/>
                </a:solidFill>
                <a:latin typeface="Times New Roman"/>
                <a:cs typeface="Times New Roman"/>
              </a:rPr>
              <a:t>folder.</a:t>
            </a:r>
            <a:endParaRPr sz="5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Used</a:t>
            </a:r>
            <a:r>
              <a:rPr dirty="0" sz="5200" spc="-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5200" spc="-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training</a:t>
            </a:r>
            <a:r>
              <a:rPr dirty="0" sz="5200" spc="-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5200" spc="-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testing</a:t>
            </a:r>
            <a:r>
              <a:rPr dirty="0" sz="5200" spc="-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5200" spc="-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 spc="-10">
                <a:solidFill>
                  <a:srgbClr val="585858"/>
                </a:solidFill>
                <a:latin typeface="Times New Roman"/>
                <a:cs typeface="Times New Roman"/>
              </a:rPr>
              <a:t>model.</a:t>
            </a:r>
            <a:endParaRPr sz="5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747" y="3622814"/>
            <a:ext cx="200024" cy="200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747" y="4527689"/>
            <a:ext cx="200024" cy="2000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747" y="5432564"/>
            <a:ext cx="200024" cy="200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97" y="1239326"/>
            <a:ext cx="190500" cy="190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55416" y="872391"/>
            <a:ext cx="6727190" cy="79375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TECHNOLOGIES</a:t>
            </a:r>
            <a:r>
              <a:rPr dirty="0" spc="-50"/>
              <a:t> </a:t>
            </a:r>
            <a:r>
              <a:rPr dirty="0" spc="-20"/>
              <a:t>USED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647" y="2684411"/>
            <a:ext cx="180974" cy="1809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12703" y="2231656"/>
            <a:ext cx="8912860" cy="673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34719">
              <a:lnSpc>
                <a:spcPct val="114599"/>
              </a:lnSpc>
              <a:spcBef>
                <a:spcPts val="100"/>
              </a:spcBef>
              <a:tabLst>
                <a:tab pos="3517265" algn="l"/>
                <a:tab pos="6242050" algn="l"/>
              </a:tabLst>
            </a:pP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Programming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Language: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Python Libraries:</a:t>
            </a:r>
            <a:endParaRPr sz="4800">
              <a:latin typeface="Times New Roman"/>
              <a:cs typeface="Times New Roman"/>
            </a:endParaRPr>
          </a:p>
          <a:p>
            <a:pPr marL="12700" marR="6048375">
              <a:lnSpc>
                <a:spcPct val="114599"/>
              </a:lnSpc>
            </a:pP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Pandas NumPy </a:t>
            </a:r>
            <a:r>
              <a:rPr dirty="0" sz="4800" spc="-25">
                <a:solidFill>
                  <a:srgbClr val="585858"/>
                </a:solidFill>
                <a:latin typeface="Times New Roman"/>
                <a:cs typeface="Times New Roman"/>
              </a:rPr>
              <a:t>Scikit-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learn Concepts:</a:t>
            </a: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  <a:tabLst>
                <a:tab pos="2297430" algn="l"/>
              </a:tabLst>
            </a:pP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Machine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Learning</a:t>
            </a: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1992630" algn="l"/>
                <a:tab pos="4548505" algn="l"/>
                <a:tab pos="7341870" algn="l"/>
              </a:tabLst>
            </a:pP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Natural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Language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Processing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(NLP)</a:t>
            </a:r>
            <a:endParaRPr sz="4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647" y="3522611"/>
            <a:ext cx="180974" cy="1809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0647" y="4360811"/>
            <a:ext cx="180974" cy="1809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0647" y="5199011"/>
            <a:ext cx="180974" cy="1809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0647" y="6037211"/>
            <a:ext cx="180974" cy="1809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0647" y="6875411"/>
            <a:ext cx="180974" cy="1809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0647" y="7713611"/>
            <a:ext cx="180974" cy="1809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00647" y="8551811"/>
            <a:ext cx="180974" cy="180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SYSTEM</a:t>
            </a:r>
            <a:r>
              <a:rPr dirty="0" spc="-20"/>
              <a:t> </a:t>
            </a:r>
            <a:r>
              <a:rPr dirty="0" spc="-1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647" y="2684411"/>
            <a:ext cx="180974" cy="1809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12703" y="2231656"/>
            <a:ext cx="6254750" cy="421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44955">
              <a:lnSpc>
                <a:spcPct val="114599"/>
              </a:lnSpc>
              <a:spcBef>
                <a:spcPts val="100"/>
              </a:spcBef>
              <a:tabLst>
                <a:tab pos="1282065" algn="l"/>
                <a:tab pos="1451610" algn="l"/>
                <a:tab pos="1992630" algn="l"/>
                <a:tab pos="3059430" algn="l"/>
              </a:tabLst>
            </a:pP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Input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Email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20">
                <a:solidFill>
                  <a:srgbClr val="585858"/>
                </a:solidFill>
                <a:latin typeface="Times New Roman"/>
                <a:cs typeface="Times New Roman"/>
              </a:rPr>
              <a:t>Text Text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Preprocessing Feature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Extraction</a:t>
            </a:r>
            <a:endParaRPr sz="4800">
              <a:latin typeface="Times New Roman"/>
              <a:cs typeface="Times New Roman"/>
            </a:endParaRPr>
          </a:p>
          <a:p>
            <a:pPr marL="12700" marR="5080">
              <a:lnSpc>
                <a:spcPct val="114599"/>
              </a:lnSpc>
              <a:tabLst>
                <a:tab pos="2297430" algn="l"/>
                <a:tab pos="2670175" algn="l"/>
                <a:tab pos="4650105" algn="l"/>
              </a:tabLst>
            </a:pP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Machine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Learning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Model Prediction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Output</a:t>
            </a:r>
            <a:endParaRPr sz="4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647" y="3522611"/>
            <a:ext cx="180974" cy="1809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647" y="4360811"/>
            <a:ext cx="180974" cy="1809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0647" y="5199011"/>
            <a:ext cx="180974" cy="1809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0647" y="6037211"/>
            <a:ext cx="180974" cy="1809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97" y="1239278"/>
            <a:ext cx="190500" cy="190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55416" y="872343"/>
            <a:ext cx="8185150" cy="79375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WORKING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SYSTEM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1597" y="2677172"/>
            <a:ext cx="171450" cy="1714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77133" y="2238380"/>
            <a:ext cx="9758045" cy="402590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Dataset</a:t>
            </a:r>
            <a:r>
              <a:rPr dirty="0" sz="4600" spc="-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is</a:t>
            </a:r>
            <a:r>
              <a:rPr dirty="0" sz="4600" spc="-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loaded</a:t>
            </a:r>
            <a:r>
              <a:rPr dirty="0" sz="4600" spc="-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4600" spc="-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 spc="-10">
                <a:solidFill>
                  <a:srgbClr val="585858"/>
                </a:solidFill>
                <a:latin typeface="Times New Roman"/>
                <a:cs typeface="Times New Roman"/>
              </a:rPr>
              <a:t>cleaned.</a:t>
            </a:r>
            <a:endParaRPr sz="4600">
              <a:latin typeface="Times New Roman"/>
              <a:cs typeface="Times New Roman"/>
            </a:endParaRPr>
          </a:p>
          <a:p>
            <a:pPr marL="12700" marR="5080">
              <a:lnSpc>
                <a:spcPct val="114100"/>
              </a:lnSpc>
            </a:pP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Text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is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converted</a:t>
            </a:r>
            <a:r>
              <a:rPr dirty="0" sz="4600" spc="-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into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numerical</a:t>
            </a:r>
            <a:r>
              <a:rPr dirty="0" sz="4600" spc="-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 spc="-10">
                <a:solidFill>
                  <a:srgbClr val="585858"/>
                </a:solidFill>
                <a:latin typeface="Times New Roman"/>
                <a:cs typeface="Times New Roman"/>
              </a:rPr>
              <a:t>features.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Machine</a:t>
            </a:r>
            <a:r>
              <a:rPr dirty="0" sz="4600" spc="-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learning</a:t>
            </a:r>
            <a:r>
              <a:rPr dirty="0" sz="4600" spc="-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model</a:t>
            </a:r>
            <a:r>
              <a:rPr dirty="0" sz="4600" spc="-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is</a:t>
            </a:r>
            <a:r>
              <a:rPr dirty="0" sz="4600" spc="-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 spc="-10">
                <a:solidFill>
                  <a:srgbClr val="585858"/>
                </a:solidFill>
                <a:latin typeface="Times New Roman"/>
                <a:cs typeface="Times New Roman"/>
              </a:rPr>
              <a:t>trained.</a:t>
            </a:r>
            <a:endParaRPr sz="4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User</a:t>
            </a:r>
            <a:r>
              <a:rPr dirty="0" sz="4600" spc="-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enters</a:t>
            </a:r>
            <a:r>
              <a:rPr dirty="0" sz="4600" spc="-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an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 spc="-10">
                <a:solidFill>
                  <a:srgbClr val="585858"/>
                </a:solidFill>
                <a:latin typeface="Times New Roman"/>
                <a:cs typeface="Times New Roman"/>
              </a:rPr>
              <a:t>email.</a:t>
            </a:r>
            <a:endParaRPr sz="4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System</a:t>
            </a:r>
            <a:r>
              <a:rPr dirty="0" sz="4600" spc="-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predicts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phishing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or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safe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 spc="-10">
                <a:solidFill>
                  <a:srgbClr val="585858"/>
                </a:solidFill>
                <a:latin typeface="Times New Roman"/>
                <a:cs typeface="Times New Roman"/>
              </a:rPr>
              <a:t>email.</a:t>
            </a:r>
            <a:endParaRPr sz="4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1597" y="3477272"/>
            <a:ext cx="171450" cy="1714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1597" y="4277372"/>
            <a:ext cx="171450" cy="1714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1597" y="5077472"/>
            <a:ext cx="171450" cy="1714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1597" y="5877572"/>
            <a:ext cx="171450" cy="1714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140"/>
              </a:spcBef>
            </a:pPr>
            <a:r>
              <a:rPr dirty="0"/>
              <a:t>MODULES</a:t>
            </a:r>
            <a:r>
              <a:rPr dirty="0" spc="-25"/>
              <a:t> </a:t>
            </a:r>
            <a:r>
              <a:rPr dirty="0" spc="-20"/>
              <a:t>USED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647" y="2684411"/>
            <a:ext cx="180974" cy="1809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12703" y="2231656"/>
            <a:ext cx="10741660" cy="2540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39010">
              <a:lnSpc>
                <a:spcPct val="114599"/>
              </a:lnSpc>
              <a:spcBef>
                <a:spcPts val="100"/>
              </a:spcBef>
              <a:tabLst>
                <a:tab pos="2450465" algn="l"/>
                <a:tab pos="2907665" algn="l"/>
                <a:tab pos="3533140" algn="l"/>
                <a:tab pos="3990340" algn="l"/>
                <a:tab pos="4921885" algn="l"/>
                <a:tab pos="5666105" algn="l"/>
                <a:tab pos="6598284" algn="l"/>
                <a:tab pos="7172325" algn="l"/>
              </a:tabLst>
            </a:pP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preprocess.py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50">
                <a:solidFill>
                  <a:srgbClr val="585858"/>
                </a:solidFill>
                <a:latin typeface="Times New Roman"/>
                <a:cs typeface="Times New Roman"/>
              </a:rPr>
              <a:t>–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cleans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email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20">
                <a:solidFill>
                  <a:srgbClr val="585858"/>
                </a:solidFill>
                <a:latin typeface="Times New Roman"/>
                <a:cs typeface="Times New Roman"/>
              </a:rPr>
              <a:t>text 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model.py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50">
                <a:solidFill>
                  <a:srgbClr val="585858"/>
                </a:solidFill>
                <a:latin typeface="Times New Roman"/>
                <a:cs typeface="Times New Roman"/>
              </a:rPr>
              <a:t>–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handles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model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training</a:t>
            </a: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5565775" algn="l"/>
                <a:tab pos="6022975" algn="l"/>
                <a:tab pos="7393940" algn="l"/>
                <a:tab pos="9916160" algn="l"/>
              </a:tabLst>
            </a:pP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phishing_detection.py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50">
                <a:solidFill>
                  <a:srgbClr val="585858"/>
                </a:solidFill>
                <a:latin typeface="Times New Roman"/>
                <a:cs typeface="Times New Roman"/>
              </a:rPr>
              <a:t>–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20">
                <a:solidFill>
                  <a:srgbClr val="585858"/>
                </a:solidFill>
                <a:latin typeface="Times New Roman"/>
                <a:cs typeface="Times New Roman"/>
              </a:rPr>
              <a:t>main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execution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20">
                <a:solidFill>
                  <a:srgbClr val="585858"/>
                </a:solidFill>
                <a:latin typeface="Times New Roman"/>
                <a:cs typeface="Times New Roman"/>
              </a:rPr>
              <a:t>file</a:t>
            </a:r>
            <a:endParaRPr sz="4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647" y="3522611"/>
            <a:ext cx="180974" cy="1809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647" y="4360811"/>
            <a:ext cx="180974" cy="1809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5049" y="1987464"/>
            <a:ext cx="7141209" cy="2740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199"/>
              </a:lnSpc>
              <a:spcBef>
                <a:spcPts val="95"/>
              </a:spcBef>
            </a:pP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Model</a:t>
            </a:r>
            <a:r>
              <a:rPr dirty="0" sz="5200" spc="-114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trained</a:t>
            </a:r>
            <a:r>
              <a:rPr dirty="0" sz="5200" spc="-11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 spc="-10">
                <a:solidFill>
                  <a:srgbClr val="585858"/>
                </a:solidFill>
                <a:latin typeface="Times New Roman"/>
                <a:cs typeface="Times New Roman"/>
              </a:rPr>
              <a:t>successfully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User</a:t>
            </a:r>
            <a:r>
              <a:rPr dirty="0" sz="5200" spc="-1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enters</a:t>
            </a:r>
            <a:r>
              <a:rPr dirty="0" sz="5200" spc="-1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 spc="-10">
                <a:solidFill>
                  <a:srgbClr val="585858"/>
                </a:solidFill>
                <a:latin typeface="Times New Roman"/>
                <a:cs typeface="Times New Roman"/>
              </a:rPr>
              <a:t>email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Prediction</a:t>
            </a:r>
            <a:r>
              <a:rPr dirty="0" sz="5200" spc="-1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result</a:t>
            </a:r>
            <a:r>
              <a:rPr dirty="0" sz="5200" spc="-1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 spc="-10">
                <a:solidFill>
                  <a:srgbClr val="585858"/>
                </a:solidFill>
                <a:latin typeface="Times New Roman"/>
                <a:cs typeface="Times New Roman"/>
              </a:rPr>
              <a:t>shown</a:t>
            </a:r>
            <a:endParaRPr sz="5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954" y="3382565"/>
            <a:ext cx="200024" cy="200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954" y="4287440"/>
            <a:ext cx="200024" cy="200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2971" y="5830578"/>
            <a:ext cx="16516349" cy="3171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0904" y="581672"/>
            <a:ext cx="190500" cy="19049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OUTPUT</a:t>
            </a:r>
            <a:r>
              <a:rPr dirty="0" spc="-20"/>
              <a:t> </a:t>
            </a:r>
            <a:r>
              <a:rPr dirty="0" spc="-10"/>
              <a:t>SCREENSHOTS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ADVANTAGES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597" y="2677172"/>
            <a:ext cx="171450" cy="1714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77133" y="2238380"/>
            <a:ext cx="6854825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Fast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4600" spc="-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automated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 spc="-10">
                <a:solidFill>
                  <a:srgbClr val="585858"/>
                </a:solidFill>
                <a:latin typeface="Times New Roman"/>
                <a:cs typeface="Times New Roman"/>
              </a:rPr>
              <a:t>detection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Reduces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risk</a:t>
            </a:r>
            <a:r>
              <a:rPr dirty="0" sz="4600" spc="-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of</a:t>
            </a:r>
            <a:r>
              <a:rPr dirty="0" sz="4600" spc="-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cyber</a:t>
            </a:r>
            <a:r>
              <a:rPr dirty="0" sz="4600" spc="-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 spc="-10">
                <a:solidFill>
                  <a:srgbClr val="585858"/>
                </a:solidFill>
                <a:latin typeface="Times New Roman"/>
                <a:cs typeface="Times New Roman"/>
              </a:rPr>
              <a:t>fraud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Easy</a:t>
            </a:r>
            <a:r>
              <a:rPr dirty="0" sz="4600" spc="-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to</a:t>
            </a:r>
            <a:r>
              <a:rPr dirty="0" sz="4600" spc="-25">
                <a:solidFill>
                  <a:srgbClr val="585858"/>
                </a:solidFill>
                <a:latin typeface="Times New Roman"/>
                <a:cs typeface="Times New Roman"/>
              </a:rPr>
              <a:t> use</a:t>
            </a:r>
            <a:endParaRPr sz="4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Improves</a:t>
            </a:r>
            <a:r>
              <a:rPr dirty="0" sz="4600" spc="-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>
                <a:solidFill>
                  <a:srgbClr val="585858"/>
                </a:solidFill>
                <a:latin typeface="Times New Roman"/>
                <a:cs typeface="Times New Roman"/>
              </a:rPr>
              <a:t>email</a:t>
            </a:r>
            <a:r>
              <a:rPr dirty="0" sz="4600" spc="-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4600" spc="-10">
                <a:solidFill>
                  <a:srgbClr val="585858"/>
                </a:solidFill>
                <a:latin typeface="Times New Roman"/>
                <a:cs typeface="Times New Roman"/>
              </a:rPr>
              <a:t>security</a:t>
            </a:r>
            <a:endParaRPr sz="4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597" y="3477272"/>
            <a:ext cx="171450" cy="1714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1597" y="4277372"/>
            <a:ext cx="171450" cy="1714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1597" y="5077472"/>
            <a:ext cx="171450" cy="1714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LIMITATIONS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747" y="2694489"/>
            <a:ext cx="200024" cy="2000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83842" y="2204262"/>
            <a:ext cx="12734290" cy="274002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Accuracy</a:t>
            </a:r>
            <a:r>
              <a:rPr dirty="0" sz="5200" spc="-114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depends</a:t>
            </a:r>
            <a:r>
              <a:rPr dirty="0" sz="5200" spc="-1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on</a:t>
            </a:r>
            <a:r>
              <a:rPr dirty="0" sz="5200" spc="-1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dataset</a:t>
            </a:r>
            <a:r>
              <a:rPr dirty="0" sz="5200" spc="-1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 spc="-10">
                <a:solidFill>
                  <a:srgbClr val="585858"/>
                </a:solidFill>
                <a:latin typeface="Times New Roman"/>
                <a:cs typeface="Times New Roman"/>
              </a:rPr>
              <a:t>quality</a:t>
            </a:r>
            <a:endParaRPr sz="5200">
              <a:latin typeface="Times New Roman"/>
              <a:cs typeface="Times New Roman"/>
            </a:endParaRPr>
          </a:p>
          <a:p>
            <a:pPr marL="12700" marR="5080">
              <a:lnSpc>
                <a:spcPts val="7130"/>
              </a:lnSpc>
              <a:spcBef>
                <a:spcPts val="180"/>
              </a:spcBef>
            </a:pP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Cannot</a:t>
            </a:r>
            <a:r>
              <a:rPr dirty="0" sz="5200" spc="-1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detect</a:t>
            </a:r>
            <a:r>
              <a:rPr dirty="0" sz="5200" spc="-1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completely</a:t>
            </a:r>
            <a:r>
              <a:rPr dirty="0" sz="5200" spc="-1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new</a:t>
            </a:r>
            <a:r>
              <a:rPr dirty="0" sz="5200" spc="-1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phishing</a:t>
            </a:r>
            <a:r>
              <a:rPr dirty="0" sz="5200" spc="-1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 spc="-10">
                <a:solidFill>
                  <a:srgbClr val="585858"/>
                </a:solidFill>
                <a:latin typeface="Times New Roman"/>
                <a:cs typeface="Times New Roman"/>
              </a:rPr>
              <a:t>patterns </a:t>
            </a:r>
            <a:r>
              <a:rPr dirty="0" sz="5200" spc="-25">
                <a:solidFill>
                  <a:srgbClr val="585858"/>
                </a:solidFill>
                <a:latin typeface="Times New Roman"/>
                <a:cs typeface="Times New Roman"/>
              </a:rPr>
              <a:t>Command-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line</a:t>
            </a:r>
            <a:r>
              <a:rPr dirty="0" sz="5200" spc="-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>
                <a:solidFill>
                  <a:srgbClr val="585858"/>
                </a:solidFill>
                <a:latin typeface="Times New Roman"/>
                <a:cs typeface="Times New Roman"/>
              </a:rPr>
              <a:t>based</a:t>
            </a:r>
            <a:r>
              <a:rPr dirty="0" sz="5200" spc="-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5200" spc="-10">
                <a:solidFill>
                  <a:srgbClr val="585858"/>
                </a:solidFill>
                <a:latin typeface="Times New Roman"/>
                <a:cs typeface="Times New Roman"/>
              </a:rPr>
              <a:t>interface</a:t>
            </a:r>
            <a:endParaRPr sz="5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747" y="3599364"/>
            <a:ext cx="200024" cy="200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747" y="4504239"/>
            <a:ext cx="200024" cy="2000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140"/>
              </a:spcBef>
            </a:pPr>
            <a:r>
              <a:rPr dirty="0"/>
              <a:t>FUTURE</a:t>
            </a:r>
            <a:r>
              <a:rPr dirty="0" spc="-30"/>
              <a:t> </a:t>
            </a:r>
            <a:r>
              <a:rPr dirty="0" spc="-10"/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647" y="2684411"/>
            <a:ext cx="180974" cy="1809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12703" y="2231656"/>
            <a:ext cx="8253095" cy="3378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002789">
              <a:lnSpc>
                <a:spcPct val="114599"/>
              </a:lnSpc>
              <a:spcBef>
                <a:spcPts val="100"/>
              </a:spcBef>
              <a:tabLst>
                <a:tab pos="1450975" algn="l"/>
                <a:tab pos="2568575" algn="l"/>
                <a:tab pos="2906395" algn="l"/>
                <a:tab pos="3600450" algn="l"/>
                <a:tab pos="4074795" algn="l"/>
              </a:tabLst>
            </a:pP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Web-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based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application 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Real-</a:t>
            </a:r>
            <a:r>
              <a:rPr dirty="0" sz="4800" spc="-20">
                <a:solidFill>
                  <a:srgbClr val="585858"/>
                </a:solidFill>
                <a:latin typeface="Times New Roman"/>
                <a:cs typeface="Times New Roman"/>
              </a:rPr>
              <a:t>time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email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scanning </a:t>
            </a:r>
            <a:r>
              <a:rPr dirty="0" sz="4800" spc="-20">
                <a:solidFill>
                  <a:srgbClr val="585858"/>
                </a:solidFill>
                <a:latin typeface="Times New Roman"/>
                <a:cs typeface="Times New Roman"/>
              </a:rPr>
              <a:t>Deep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learning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integration</a:t>
            </a:r>
            <a:endParaRPr sz="4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2230120" algn="l"/>
                <a:tab pos="2890520" algn="l"/>
                <a:tab pos="4396740" algn="l"/>
                <a:tab pos="5902960" algn="l"/>
              </a:tabLst>
            </a:pP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Browser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25">
                <a:solidFill>
                  <a:srgbClr val="585858"/>
                </a:solidFill>
                <a:latin typeface="Times New Roman"/>
                <a:cs typeface="Times New Roman"/>
              </a:rPr>
              <a:t>or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email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client</a:t>
            </a:r>
            <a:r>
              <a:rPr dirty="0" sz="4800">
                <a:solidFill>
                  <a:srgbClr val="585858"/>
                </a:solidFill>
                <a:latin typeface="Times New Roman"/>
                <a:cs typeface="Times New Roman"/>
              </a:rPr>
              <a:t>	</a:t>
            </a:r>
            <a:r>
              <a:rPr dirty="0" sz="4800" spc="-10">
                <a:solidFill>
                  <a:srgbClr val="585858"/>
                </a:solidFill>
                <a:latin typeface="Times New Roman"/>
                <a:cs typeface="Times New Roman"/>
              </a:rPr>
              <a:t>extension</a:t>
            </a:r>
            <a:endParaRPr sz="4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647" y="3522611"/>
            <a:ext cx="180974" cy="1809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647" y="4360811"/>
            <a:ext cx="180974" cy="1809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0647" y="5199011"/>
            <a:ext cx="180974" cy="1809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647" y="2613907"/>
            <a:ext cx="180974" cy="180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  <a:tabLst>
                <a:tab pos="1112520" algn="l"/>
                <a:tab pos="1620520" algn="l"/>
                <a:tab pos="2297430" algn="l"/>
                <a:tab pos="2958465" algn="l"/>
                <a:tab pos="3872865" algn="l"/>
                <a:tab pos="4431665" algn="l"/>
                <a:tab pos="4855210" algn="l"/>
                <a:tab pos="5886450" algn="l"/>
                <a:tab pos="6090285" algn="l"/>
                <a:tab pos="6734175" algn="l"/>
                <a:tab pos="7493634" algn="l"/>
                <a:tab pos="8544560" algn="l"/>
                <a:tab pos="8816340" algn="l"/>
                <a:tab pos="9745980" algn="l"/>
              </a:tabLst>
            </a:pPr>
            <a:r>
              <a:rPr dirty="0" spc="-10"/>
              <a:t>Email</a:t>
            </a:r>
            <a:r>
              <a:rPr dirty="0"/>
              <a:t>	</a:t>
            </a:r>
            <a:r>
              <a:rPr dirty="0" spc="-10"/>
              <a:t>phishing</a:t>
            </a:r>
            <a:r>
              <a:rPr dirty="0"/>
              <a:t>	</a:t>
            </a:r>
            <a:r>
              <a:rPr dirty="0" spc="-25"/>
              <a:t>is</a:t>
            </a:r>
            <a:r>
              <a:rPr dirty="0"/>
              <a:t>	</a:t>
            </a:r>
            <a:r>
              <a:rPr dirty="0" spc="-50"/>
              <a:t>a</a:t>
            </a:r>
            <a:r>
              <a:rPr dirty="0"/>
              <a:t>	</a:t>
            </a:r>
            <a:r>
              <a:rPr dirty="0" spc="-10"/>
              <a:t>serious</a:t>
            </a:r>
            <a:r>
              <a:rPr dirty="0"/>
              <a:t>	</a:t>
            </a:r>
            <a:r>
              <a:rPr dirty="0" spc="-10"/>
              <a:t>security</a:t>
            </a:r>
            <a:r>
              <a:rPr dirty="0"/>
              <a:t>	</a:t>
            </a:r>
            <a:r>
              <a:rPr dirty="0" spc="-10"/>
              <a:t>threat. Machine</a:t>
            </a:r>
            <a:r>
              <a:rPr dirty="0"/>
              <a:t>	</a:t>
            </a:r>
            <a:r>
              <a:rPr dirty="0" spc="-10"/>
              <a:t>learning</a:t>
            </a:r>
            <a:r>
              <a:rPr dirty="0"/>
              <a:t>	</a:t>
            </a:r>
            <a:r>
              <a:rPr dirty="0" spc="-1095"/>
              <a:t> </a:t>
            </a:r>
            <a:r>
              <a:rPr dirty="0"/>
              <a:t>helps	</a:t>
            </a:r>
            <a:r>
              <a:rPr dirty="0" spc="-10"/>
              <a:t>detect</a:t>
            </a:r>
            <a:r>
              <a:rPr dirty="0"/>
              <a:t>	</a:t>
            </a:r>
            <a:r>
              <a:rPr dirty="0" spc="-10"/>
              <a:t>phishing</a:t>
            </a:r>
            <a:r>
              <a:rPr dirty="0"/>
              <a:t>	</a:t>
            </a:r>
            <a:r>
              <a:rPr dirty="0" spc="-10"/>
              <a:t>effectively. </a:t>
            </a:r>
            <a:r>
              <a:rPr dirty="0" spc="-25"/>
              <a:t>The</a:t>
            </a:r>
            <a:r>
              <a:rPr dirty="0"/>
              <a:t>	</a:t>
            </a:r>
            <a:r>
              <a:rPr dirty="0" spc="-10"/>
              <a:t>system</a:t>
            </a:r>
            <a:r>
              <a:rPr dirty="0"/>
              <a:t>	</a:t>
            </a:r>
            <a:r>
              <a:rPr dirty="0" spc="-10"/>
              <a:t>successfully</a:t>
            </a:r>
            <a:r>
              <a:rPr dirty="0"/>
              <a:t>	</a:t>
            </a:r>
            <a:r>
              <a:rPr dirty="0" spc="-10"/>
              <a:t>classified</a:t>
            </a:r>
            <a:r>
              <a:rPr dirty="0"/>
              <a:t>	</a:t>
            </a:r>
            <a:r>
              <a:rPr dirty="0" spc="-10"/>
              <a:t>emails.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1891664" algn="l"/>
                <a:tab pos="4142104" algn="l"/>
                <a:tab pos="4870450" algn="l"/>
              </a:tabLst>
            </a:pPr>
            <a:r>
              <a:rPr dirty="0" spc="-10"/>
              <a:t>Project</a:t>
            </a:r>
            <a:r>
              <a:rPr dirty="0"/>
              <a:t>	</a:t>
            </a:r>
            <a:r>
              <a:rPr dirty="0" spc="-10"/>
              <a:t>achieves</a:t>
            </a:r>
            <a:r>
              <a:rPr dirty="0"/>
              <a:t>	</a:t>
            </a:r>
            <a:r>
              <a:rPr dirty="0" spc="-25"/>
              <a:t>its</a:t>
            </a:r>
            <a:r>
              <a:rPr dirty="0"/>
              <a:t>	</a:t>
            </a:r>
            <a:r>
              <a:rPr dirty="0" spc="-10"/>
              <a:t>objectives.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647" y="3452107"/>
            <a:ext cx="180974" cy="1809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647" y="4290307"/>
            <a:ext cx="180974" cy="1809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647" y="5128507"/>
            <a:ext cx="180974" cy="1809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 Jangale</dc:creator>
  <cp:keywords>DAHCWAO1MoI,BAF8ZU83fzY,0</cp:keywords>
  <dc:title>Presented by:- Abhijit Bhekare (155) Yash Jangali (172) Rushikesh Mahadik (179) Course:BSc IT Academic Year:2025-26</dc:title>
  <dcterms:created xsi:type="dcterms:W3CDTF">2026-02-25T16:30:57Z</dcterms:created>
  <dcterms:modified xsi:type="dcterms:W3CDTF">2026-02-25T16:30:57Z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2026-02-25T00:00:00Z</vt:filetime>
  </property>
  <property fmtid="{D5CDD505-2E9C-101B-9397-08002B2CF9AE}" pid="5" name="Producer">
    <vt:lpwstr>Canva</vt:lpwstr>
  </property>
</Properties>
</file>